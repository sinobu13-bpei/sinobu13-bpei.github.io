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46"/>
    <p:sldId id="257" r:id="rId3"/>
    <p:sldId id="296" r:id="rId47"/>
    <p:sldId id="258" r:id="rId4"/>
    <p:sldId id="259" r:id="rId5"/>
    <p:sldId id="260" r:id="rId6"/>
    <p:sldId id="261" r:id="rId7"/>
    <p:sldId id="262" r:id="rId8"/>
    <p:sldId id="297" r:id="rId48"/>
    <p:sldId id="263" r:id="rId9"/>
    <p:sldId id="264" r:id="rId10"/>
    <p:sldId id="265" r:id="rId11"/>
    <p:sldId id="266" r:id="rId12"/>
    <p:sldId id="267" r:id="rId13"/>
    <p:sldId id="298" r:id="rId49"/>
    <p:sldId id="268" r:id="rId14"/>
    <p:sldId id="299" r:id="rId50"/>
    <p:sldId id="269" r:id="rId15"/>
    <p:sldId id="300" r:id="rId51"/>
    <p:sldId id="270" r:id="rId16"/>
    <p:sldId id="301" r:id="rId52"/>
    <p:sldId id="271" r:id="rId17"/>
    <p:sldId id="302" r:id="rId53"/>
    <p:sldId id="272" r:id="rId18"/>
    <p:sldId id="303" r:id="rId54"/>
    <p:sldId id="273" r:id="rId19"/>
    <p:sldId id="304" r:id="rId55"/>
    <p:sldId id="274" r:id="rId20"/>
    <p:sldId id="305" r:id="rId56"/>
    <p:sldId id="275" r:id="rId21"/>
    <p:sldId id="306" r:id="rId57"/>
    <p:sldId id="276" r:id="rId22"/>
    <p:sldId id="277" r:id="rId23"/>
    <p:sldId id="278" r:id="rId24"/>
    <p:sldId id="307" r:id="rId58"/>
    <p:sldId id="279" r:id="rId25"/>
    <p:sldId id="280" r:id="rId26"/>
    <p:sldId id="281" r:id="rId27"/>
    <p:sldId id="308" r:id="rId59"/>
    <p:sldId id="282" r:id="rId28"/>
    <p:sldId id="283" r:id="rId29"/>
    <p:sldId id="284" r:id="rId30"/>
    <p:sldId id="285" r:id="rId31"/>
    <p:sldId id="309" r:id="rId60"/>
    <p:sldId id="286" r:id="rId32"/>
    <p:sldId id="287" r:id="rId33"/>
    <p:sldId id="310" r:id="rId61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7.xml"/><Relationship Id="rId15" Type="http://schemas.openxmlformats.org/officeDocument/2006/relationships/slide" Target="slides/slide19.xml"/><Relationship Id="rId16" Type="http://schemas.openxmlformats.org/officeDocument/2006/relationships/slide" Target="slides/slide21.xml"/><Relationship Id="rId17" Type="http://schemas.openxmlformats.org/officeDocument/2006/relationships/slide" Target="slides/slide23.xml"/><Relationship Id="rId18" Type="http://schemas.openxmlformats.org/officeDocument/2006/relationships/slide" Target="slides/slide25.xml"/><Relationship Id="rId19" Type="http://schemas.openxmlformats.org/officeDocument/2006/relationships/slide" Target="slides/slide27.xml"/><Relationship Id="rId20" Type="http://schemas.openxmlformats.org/officeDocument/2006/relationships/slide" Target="slides/slide29.xml"/><Relationship Id="rId21" Type="http://schemas.openxmlformats.org/officeDocument/2006/relationships/slide" Target="slides/slide31.xml"/><Relationship Id="rId22" Type="http://schemas.openxmlformats.org/officeDocument/2006/relationships/slide" Target="slides/slide33.xml"/><Relationship Id="rId23" Type="http://schemas.openxmlformats.org/officeDocument/2006/relationships/slide" Target="slides/slide34.xml"/><Relationship Id="rId24" Type="http://schemas.openxmlformats.org/officeDocument/2006/relationships/slide" Target="slides/slide35.xml"/><Relationship Id="rId25" Type="http://schemas.openxmlformats.org/officeDocument/2006/relationships/slide" Target="slides/slide37.xml"/><Relationship Id="rId26" Type="http://schemas.openxmlformats.org/officeDocument/2006/relationships/slide" Target="slides/slide38.xml"/><Relationship Id="rId27" Type="http://schemas.openxmlformats.org/officeDocument/2006/relationships/slide" Target="slides/slide39.xml"/><Relationship Id="rId28" Type="http://schemas.openxmlformats.org/officeDocument/2006/relationships/slide" Target="slides/slide41.xml"/><Relationship Id="rId29" Type="http://schemas.openxmlformats.org/officeDocument/2006/relationships/slide" Target="slides/slide42.xml"/><Relationship Id="rId30" Type="http://schemas.openxmlformats.org/officeDocument/2006/relationships/slide" Target="slides/slide43.xml"/><Relationship Id="rId31" Type="http://schemas.openxmlformats.org/officeDocument/2006/relationships/slide" Target="slides/slide44.xml"/><Relationship Id="rId32" Type="http://schemas.openxmlformats.org/officeDocument/2006/relationships/slide" Target="slides/slide46.xml"/><Relationship Id="rId33" Type="http://schemas.openxmlformats.org/officeDocument/2006/relationships/slide" Target="slides/slide47.xml"/><Relationship Id="rId34" Type="http://schemas.openxmlformats.org/officeDocument/2006/relationships/slide" Target="slides/slide49.xml"/><Relationship Id="rId35" Type="http://schemas.openxmlformats.org/officeDocument/2006/relationships/slide" Target="slides/slide50.xml"/><Relationship Id="rId36" Type="http://schemas.openxmlformats.org/officeDocument/2006/relationships/slide" Target="slides/slide51.xml"/><Relationship Id="rId37" Type="http://schemas.openxmlformats.org/officeDocument/2006/relationships/slide" Target="slides/slide52.xml"/><Relationship Id="rId38" Type="http://schemas.openxmlformats.org/officeDocument/2006/relationships/slide" Target="slides/slide53.xml"/><Relationship Id="rId39" Type="http://schemas.openxmlformats.org/officeDocument/2006/relationships/slide" Target="slides/slide54.xml"/><Relationship Id="rId40" Type="http://schemas.openxmlformats.org/officeDocument/2006/relationships/slide" Target="slides/slide55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2.xml"/><Relationship Id="rId47" Type="http://schemas.openxmlformats.org/officeDocument/2006/relationships/slide" Target="slides/slide4.xml"/><Relationship Id="rId48" Type="http://schemas.openxmlformats.org/officeDocument/2006/relationships/slide" Target="slides/slide10.xml"/><Relationship Id="rId49" Type="http://schemas.openxmlformats.org/officeDocument/2006/relationships/slide" Target="slides/slide16.xml"/><Relationship Id="rId50" Type="http://schemas.openxmlformats.org/officeDocument/2006/relationships/slide" Target="slides/slide18.xml"/><Relationship Id="rId51" Type="http://schemas.openxmlformats.org/officeDocument/2006/relationships/slide" Target="slides/slide20.xml"/><Relationship Id="rId52" Type="http://schemas.openxmlformats.org/officeDocument/2006/relationships/slide" Target="slides/slide22.xml"/><Relationship Id="rId53" Type="http://schemas.openxmlformats.org/officeDocument/2006/relationships/slide" Target="slides/slide24.xml"/><Relationship Id="rId54" Type="http://schemas.openxmlformats.org/officeDocument/2006/relationships/slide" Target="slides/slide26.xml"/><Relationship Id="rId55" Type="http://schemas.openxmlformats.org/officeDocument/2006/relationships/slide" Target="slides/slide28.xml"/><Relationship Id="rId56" Type="http://schemas.openxmlformats.org/officeDocument/2006/relationships/slide" Target="slides/slide30.xml"/><Relationship Id="rId57" Type="http://schemas.openxmlformats.org/officeDocument/2006/relationships/slide" Target="slides/slide32.xml"/><Relationship Id="rId58" Type="http://schemas.openxmlformats.org/officeDocument/2006/relationships/slide" Target="slides/slide36.xml"/><Relationship Id="rId59" Type="http://schemas.openxmlformats.org/officeDocument/2006/relationships/slide" Target="slides/slide40.xml"/><Relationship Id="rId60" Type="http://schemas.openxmlformats.org/officeDocument/2006/relationships/slide" Target="slides/slide45.xml"/><Relationship Id="rId61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hyperlink" Target="https://www.google.com/maps/search/?api=1&amp;query=&#20185;&#21488;&#24066;" TargetMode="External"/><Relationship Id="rId3" Type="http://schemas.openxmlformats.org/officeDocument/2006/relationships/hyperlink" Target="https://www.google.com/maps/search/?api=1&amp;query=&#26481;&#20140;&#37117;" TargetMode="External"/><Relationship Id="rId4" Type="http://schemas.openxmlformats.org/officeDocument/2006/relationships/hyperlink" Target="https://www.google.com/maps/search/?api=1&amp;query=&#21517;&#21476;&#23627;&#24066;" TargetMode="External"/><Relationship Id="rId5" Type="http://schemas.openxmlformats.org/officeDocument/2006/relationships/hyperlink" Target="https://www.google.com/maps/search/?api=1&amp;query=&#22823;&#38442;&#24066;" TargetMode="External"/><Relationship Id="rId6" Type="http://schemas.openxmlformats.org/officeDocument/2006/relationships/hyperlink" Target="https://www.google.com/maps/search/?api=1&amp;query=&#31119;&#23713;&#24066;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hyperlink" Target="https://www.isc.hbs.edu/strategy/business-strategy/Pages/the-five-forces.aspx?content_language=English" TargetMode="External"/><Relationship Id="rId2" Type="http://schemas.openxmlformats.org/officeDocument/2006/relationships/hyperlink" Target="https://www.kotterinc.com/methodology/8-steps/" TargetMode="External"/><Relationship Id="rId3" Type="http://schemas.openxmlformats.org/officeDocument/2006/relationships/hyperlink" Target="https://rework.withgoogle.com/en/guides/understanding-team-effectiveness" TargetMode="External"/><Relationship Id="rId4" Type="http://schemas.openxmlformats.org/officeDocument/2006/relationships/hyperlink" Target="https://www.strategyzer.com/library/the-value-proposition-canvas" TargetMode="External"/><Relationship Id="rId5" Type="http://schemas.openxmlformats.org/officeDocument/2006/relationships/hyperlink" Target="https://www.mhlw.go.jp/stf/seisakunitsuite/bunya/kenkou_iryou/iyakuhin/koukokukisei/index.html" TargetMode="External"/><Relationship Id="rId6" Type="http://schemas.openxmlformats.org/officeDocument/2006/relationships/hyperlink" Target="https://www.mhlw.go.jp/web/t_doc?dataId=00tb3547&amp;dataType=1&amp;pageNo=1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hyperlink" Target="https://sinobu13-bpei.github.io/medical-intelligence/?v=20261022-yamagata&amp;utm_source=chatgpt.com" TargetMode="External"/><Relationship Id="rId2" Type="http://schemas.openxmlformats.org/officeDocument/2006/relationships/hyperlink" Target="https://sinobu13-bpei.github.io/medical-intelligence/?v=20261022-yamagata&amp;utm_source=chatgpt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1B5067">
              <a:alpha val="55000"/>
            </a:srgbClr>
          </a:solidFill>
          <a:ln w="12700">
            <a:solidFill>
              <a:srgbClr val="1B506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58368" y="7498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E9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424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施策・中長期戦略立案のための考え方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31520" y="298094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2E6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医療機器メーカー・医療機器商社・販社・薬業卸で使える汎用的な戦略・改革の実践教育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4123944"/>
            <a:ext cx="5056632" cy="347472"/>
          </a:xfrm>
          <a:prstGeom prst="roundRect">
            <a:avLst>
              <a:gd name="adj" fmla="val 44737"/>
            </a:avLst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415137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PE強み×脅威 / 5F / 3C / STP / VRIO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35624" y="4123944"/>
            <a:ext cx="5056632" cy="347472"/>
          </a:xfrm>
          <a:prstGeom prst="roundRect">
            <a:avLst>
              <a:gd name="adj" fmla="val 44737"/>
            </a:avLst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81344" y="415137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戦う領域（Where to Play）× 勝ち方（How to Win）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4636008"/>
            <a:ext cx="5056632" cy="347472"/>
          </a:xfrm>
          <a:prstGeom prst="roundRect">
            <a:avLst>
              <a:gd name="adj" fmla="val 44737"/>
            </a:avLst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58952" y="4663440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KSF → 3〜5年戦略 → 90日施策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35624" y="4636008"/>
            <a:ext cx="5056632" cy="347472"/>
          </a:xfrm>
          <a:prstGeom prst="roundRect">
            <a:avLst>
              <a:gd name="adj" fmla="val 44737"/>
            </a:avLst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81344" y="4663440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チームビルディング × 失敗からの学習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97103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編纂：DyRO推進課　松尾 武範　｜　ビジネスパートナー戦略企画課　伊逹 浩一・山中 果菜実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到達目標：戦略を「知る」から「つくる・動かす」へ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710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受講者自身が企業別の中期戦略と90日実行計画を作成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901952"/>
            <a:ext cx="534924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" y="1901952"/>
            <a:ext cx="64008" cy="150876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9536" y="20756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分析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2523744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事実と仮説を分け、顧客・競合・自社を構造化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6327648" y="1901952"/>
            <a:ext cx="534924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27648" y="1901952"/>
            <a:ext cx="64008" cy="150876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28816" y="20756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選択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2523744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戦う領域と捨てる領域を決定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658368" y="3749040"/>
            <a:ext cx="534924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8368" y="3749040"/>
            <a:ext cx="64008" cy="150876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9536" y="39227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設計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4370832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KSF・3〜5年戦略・資源配分を明確化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6327648" y="3749040"/>
            <a:ext cx="534924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27648" y="3749040"/>
            <a:ext cx="64008" cy="1508760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28816" y="39227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実行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28816" y="4370832"/>
            <a:ext cx="4983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チームとKPIで90日間の検証を回す</a:t>
            </a:r>
            <a:endParaRPr lang="en-US" sz="11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基本の考え方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目標・戦略・戦術は別物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710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現場に多い失敗：「目標数字」と「活動一覧」を戦略だと勘違いする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0936" y="1828800"/>
            <a:ext cx="3538728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0936" y="1828800"/>
            <a:ext cx="64008" cy="338328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002536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" y="2450592"/>
            <a:ext cx="31729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例：3年間で売上を20％増加する。何を達成したいか示すが、勝ち方はまだ決めていない。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4315968" y="1828800"/>
            <a:ext cx="3538728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15968" y="1828800"/>
            <a:ext cx="64008" cy="338328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17136" y="2002536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17136" y="2450592"/>
            <a:ext cx="31729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例：診療所更新市場を選び、導入後の運用支援を強みにして競争する。何をやらないかも決める。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8001000" y="1828800"/>
            <a:ext cx="3538728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01000" y="1828800"/>
            <a:ext cx="64008" cy="338328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02168" y="2002536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02168" y="2450592"/>
            <a:ext cx="31729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例：顧客課題調査、実証、セミナー、RACI、週次KPIレビューを実施する。</a:t>
            </a:r>
            <a:endParaRPr lang="en-US" sz="11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戦略の基本原則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戦略の3原則：捨てる・差別化する・早く学ぶ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355701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920240"/>
            <a:ext cx="64008" cy="292608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209397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　捨てる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542032"/>
            <a:ext cx="319125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選択しなければ資源が分散する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4498848" y="1920240"/>
            <a:ext cx="355701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98848" y="1920240"/>
            <a:ext cx="64008" cy="292608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00016" y="209397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　差別化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0016" y="2542032"/>
            <a:ext cx="319125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顧客にとって代替できない価値をつくる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8311896" y="1920240"/>
            <a:ext cx="3557016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11896" y="1920240"/>
            <a:ext cx="64008" cy="292608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13064" y="2093976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　早く学ぶ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13064" y="2542032"/>
            <a:ext cx="319125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管理された小さな仮説検証で修正する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713232" y="561441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医療安全や法令遵守で「早く失敗してよい」という意味ではない。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批判的思考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思い込みを禁止する：事実 → 仮説 → 反証 → 検証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67512" y="1810512"/>
            <a:ext cx="5285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67512" y="1810512"/>
            <a:ext cx="64008" cy="141732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198424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事実｜観測できた事実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432304"/>
            <a:ext cx="4919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顧客の発言・公的統計・実測値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336792" y="1810512"/>
            <a:ext cx="5285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36792" y="1810512"/>
            <a:ext cx="64008" cy="141732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7960" y="198424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仮説｜まだ未検証の仮説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432304"/>
            <a:ext cx="4919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「昔からA社だから次もA社」の判断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67512" y="3639312"/>
            <a:ext cx="5285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7512" y="3639312"/>
            <a:ext cx="64008" cy="141732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81304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反証｜反対説明と反例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261104"/>
            <a:ext cx="4919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更新時期・DMU・機能変化で反証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336792" y="3639312"/>
            <a:ext cx="5285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36792" y="3639312"/>
            <a:ext cx="64008" cy="1417320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381304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検証｜期限と検証条件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261104"/>
            <a:ext cx="4919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何件に何を聞けば結論が変わるか</a:t>
            </a:r>
            <a:endParaRPr lang="en-US" sz="11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思い込み・心理的偏り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変わらないことのリスク：現状維持バイアス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901952"/>
            <a:ext cx="5303520" cy="3346704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901952"/>
            <a:ext cx="64008" cy="3346704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2075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過去に成功した方法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523744"/>
            <a:ext cx="49377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「いつもの製品・いつもの担当・いつもの顧客」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やがて顧客の評価軸と競争構造が変わり、経験が判断を妨げる可能性がある。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163056" y="1901952"/>
            <a:ext cx="5303520" cy="3346704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63056" y="1901952"/>
            <a:ext cx="64008" cy="334670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4224" y="2075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変化を観測するチーム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523744"/>
            <a:ext cx="49377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・毎四半期、前提を3つ捨ててみる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・反例を集める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・「まだ誰もやらない理由」を問う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・やめる活動を決める</a:t>
            </a:r>
            <a:endParaRPr lang="en-US" sz="11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チームビルディング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改革は個人技では実現しない：戦略 × 組織 × 行動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800" dirty="0"/>
          </a:p>
        </p:txBody>
      </p:sp>
      <p:pic>
        <p:nvPicPr>
          <p:cNvPr id="8" name="Image 0" descr="/mnt/data/strategy_work/assets/tea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673352"/>
            <a:ext cx="10168128" cy="43342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チームづくり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改革チームの5条件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710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心理的安全性は「何でも許される」ではなく、異論と実行責任の両立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847088"/>
            <a:ext cx="3493008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1847088"/>
            <a:ext cx="64008" cy="1591056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202082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共通目的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2468880"/>
            <a:ext cx="31272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顧客に何の価値を届けるか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4425696" y="1847088"/>
            <a:ext cx="3493008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25696" y="1847088"/>
            <a:ext cx="64008" cy="1591056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26864" y="202082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心理的安全性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26864" y="2468880"/>
            <a:ext cx="31272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異論・失敗報告・質問ができる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8211312" y="1847088"/>
            <a:ext cx="3493008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11312" y="1847088"/>
            <a:ext cx="64008" cy="1591056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412480" y="202082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補完する専門性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2468880"/>
            <a:ext cx="31272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営業・臨床・技術・財務・現場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640080" y="3721608"/>
            <a:ext cx="3493008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" y="3721608"/>
            <a:ext cx="64008" cy="1591056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1248" y="389534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責任の明確化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" y="4343400"/>
            <a:ext cx="31272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意思決定者と実行者を区別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4425696" y="3721608"/>
            <a:ext cx="3493008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425696" y="3721608"/>
            <a:ext cx="64008" cy="1591056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26864" y="389534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学習と実行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26864" y="4343400"/>
            <a:ext cx="312724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決定期限・振り返り・改善</a:t>
            </a:r>
            <a:endParaRPr lang="en-US" sz="11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仕事と責任を見える化する：RACI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47088"/>
          <a:ext cx="11064240" cy="3291840"/>
        </p:xfrm>
        <a:graphic>
          <a:graphicData uri="http://schemas.openxmlformats.org/drawingml/2006/table">
            <a:tbl>
              <a:tblPr/>
              <a:tblGrid>
                <a:gridCol w="1975104"/>
                <a:gridCol w="2157984"/>
                <a:gridCol w="2240280"/>
                <a:gridCol w="2331720"/>
                <a:gridCol w="23591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 実行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最終責任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 相談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 情報共有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戦略骨子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戦略責任者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経営責任者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現場・専門家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関係者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顧客検証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営業・顧客担当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戦略責任者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学術・技術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KPIレビュー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PMO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戦略責任者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現場リーダー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関係者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投資判断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財務・経営企画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経営責任者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営業・専門家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全社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1847088"/>
            <a:ext cx="11064240" cy="411480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" y="19065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615184" y="19065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 実行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73168" y="1906524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最終責任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13448" y="1906524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相談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345168" y="19065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 情報共有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57058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原則：重要な活動にはA（最終責任）を一人設定する。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改革の進め方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変革は「危機意識 → チーム → 短期成果 → 定着」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5321808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13232" y="1828800"/>
            <a:ext cx="64008" cy="155448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200253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変革の必要性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450592"/>
            <a:ext cx="49560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既存手法の限界を可視化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345936" y="1828800"/>
            <a:ext cx="5321808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45936" y="1828800"/>
            <a:ext cx="64008" cy="155448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47104" y="2002536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推進連携チーム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47104" y="2450592"/>
            <a:ext cx="49560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肩書きだけではなく異なる専門性を束ねる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713232" y="3785616"/>
            <a:ext cx="5321808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3232" y="3785616"/>
            <a:ext cx="64008" cy="155448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395935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短期成果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407408"/>
            <a:ext cx="49560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実証で前進を見せ、他部署の参加を促す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345936" y="3785616"/>
            <a:ext cx="5321808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45936" y="3785616"/>
            <a:ext cx="64008" cy="1554480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47104" y="395935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組織の定着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47104" y="4407408"/>
            <a:ext cx="49560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評価・標準手順・人材育成に織り込む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749808" y="5916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参考：コッター／8段階変革モデル（末尾の出典参照）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分析の道具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分析の順番に縛られない：問いからフレームを選ぶ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3776" y="1865376"/>
            <a:ext cx="274320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93776" y="1865376"/>
            <a:ext cx="64008" cy="155448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外部変化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" y="2487168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PE強み×脅威 / 5F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3456432" y="1865376"/>
            <a:ext cx="274320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56432" y="1865376"/>
            <a:ext cx="64008" cy="155448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0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競合・顧客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487168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3C / 購買意思決定者と購入基準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419088" y="1865376"/>
            <a:ext cx="274320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19088" y="1865376"/>
            <a:ext cx="64008" cy="155448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20256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自社能力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0256" y="2487168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VRIO / Capability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9381744" y="1865376"/>
            <a:ext cx="274320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81744" y="1865376"/>
            <a:ext cx="64008" cy="1554480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582912" y="2039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戦略選択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82912" y="2487168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STP / SWOT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493776" y="3913632"/>
            <a:ext cx="274320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93776" y="3913632"/>
            <a:ext cx="64008" cy="155448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4944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勝つ条件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" y="4535424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KSF / Gap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3456432" y="3913632"/>
            <a:ext cx="274320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456432" y="3913632"/>
            <a:ext cx="64008" cy="155448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57600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提供設計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0" y="4535424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4P / 4C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6419088" y="3913632"/>
            <a:ext cx="274320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19088" y="3913632"/>
            <a:ext cx="64008" cy="155448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20256" y="4087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実行管理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0256" y="4535424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RACI / KPI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PEST：制御できない変化から市場の仮説をつくる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5303520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1847088"/>
            <a:ext cx="64008" cy="1490472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59536" y="20208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 / Policy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468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医療制度・地域医療構想・薬事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281928" y="1847088"/>
            <a:ext cx="5303520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81928" y="1847088"/>
            <a:ext cx="64008" cy="1490472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83096" y="20208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 / Economy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83096" y="2468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病院経営・物価・人件費・投資負担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58368" y="3694176"/>
            <a:ext cx="5303520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8368" y="3694176"/>
            <a:ext cx="64008" cy="1490472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9536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 / Society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4315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高齢化・地域格差・医療人材不足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281928" y="3694176"/>
            <a:ext cx="5303520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81928" y="3694176"/>
            <a:ext cx="64008" cy="1490472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83096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 / Technology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83096" y="4315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医療DX・画像連携・AI・可搬化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77724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重要：外部変化 → 顧客行動への影響 → 自社の選択、の因果関係を説明する。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p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競争環境分析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5F：競争圧力は「ライバル会社」だけではない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224528" y="1691640"/>
            <a:ext cx="3200400" cy="1115568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224528" y="1691640"/>
            <a:ext cx="64008" cy="1115568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25696" y="1865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新規参入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25696" y="2313432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新しい販売モデル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731520" y="2944368"/>
            <a:ext cx="3200400" cy="1115568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2944368"/>
            <a:ext cx="64008" cy="1115568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2688" y="31181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買い手の交渉力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3566160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大口購買・価格比較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7735824" y="2944368"/>
            <a:ext cx="3200400" cy="1115568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35824" y="2944368"/>
            <a:ext cx="64008" cy="1115568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936992" y="31181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売り手の交渉力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36992" y="3566160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仕入条件・納期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4224528" y="4617720"/>
            <a:ext cx="3200400" cy="1115568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24528" y="4617720"/>
            <a:ext cx="64008" cy="1115568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25696" y="47914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代替サービス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25696" y="5239512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共同利用・検査委託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4224528" y="2944368"/>
            <a:ext cx="3200400" cy="1115568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224528" y="2944368"/>
            <a:ext cx="64008" cy="1115568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25696" y="31181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既存競争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25696" y="3566160"/>
            <a:ext cx="2834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営業・サービス・価格</a:t>
            </a:r>
            <a:endParaRPr lang="en-US" sz="11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顧客・競合・自社分析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3C：顧客 × 競合 × 自社の接点に「勝つ理由」を探す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83664"/>
            <a:ext cx="3529584" cy="2816352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883664"/>
            <a:ext cx="64008" cy="2816352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205740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505456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臨床・運用・経営課題は何か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4489704" y="1883664"/>
            <a:ext cx="3529584" cy="2816352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89704" y="1883664"/>
            <a:ext cx="64008" cy="2816352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90872" y="205740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90872" y="2505456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顧客は別の選択肢でどう解決するか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8293608" y="1883664"/>
            <a:ext cx="3529584" cy="2816352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93608" y="1883664"/>
            <a:ext cx="64008" cy="2816352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94776" y="205740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94776" y="2505456"/>
            <a:ext cx="3163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その課題を他社より良く解ける能力は何か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1325880" y="5276088"/>
            <a:ext cx="9372600" cy="493776"/>
          </a:xfrm>
          <a:prstGeom prst="roundRect">
            <a:avLst>
              <a:gd name="adj" fmla="val 29630"/>
            </a:avLst>
          </a:prstGeom>
          <a:solidFill>
            <a:srgbClr val="E8F6F4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99616" y="533095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交点：価値が高い × 顧客が評価する × 競合と異なる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VRIO：強みは「組織的に実現できて」初めて武器になる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938528"/>
          <a:ext cx="10853928" cy="3163824"/>
        </p:xfrm>
        <a:graphic>
          <a:graphicData uri="http://schemas.openxmlformats.org/drawingml/2006/table">
            <a:tbl>
              <a:tblPr/>
              <a:tblGrid>
                <a:gridCol w="3035808"/>
                <a:gridCol w="932688"/>
                <a:gridCol w="932688"/>
                <a:gridCol w="932688"/>
                <a:gridCol w="932688"/>
                <a:gridCol w="408736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資源・能力（架空例）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次の課題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顧客との接点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顧客知見をチームで共有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臨床・運用教育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教材化と継続育成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広域の保守連携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標準SLAと協業体制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商談データの蓄積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品質管理・CRM運用</a:t>
                      </a:r>
                      <a:endParaRPr lang="en-US" sz="112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04088" y="1938528"/>
            <a:ext cx="10853928" cy="411480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199796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資源・能力（架空例）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3813048" y="199796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4745736" y="199796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5678424" y="199796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6611112" y="199796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543800" y="1997964"/>
            <a:ext cx="3941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次の課題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22376" y="5596128"/>
            <a:ext cx="10789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V＝価値、R＝希少性、I＝模倣困難性、O＝組織化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v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STP：すべての顧客に同じことをしない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800" dirty="0"/>
          </a:p>
        </p:txBody>
      </p:sp>
      <p:pic>
        <p:nvPicPr>
          <p:cNvPr id="8" name="Image 0" descr="/mnt/data/strategy_work/assets/portfol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73352"/>
            <a:ext cx="7443216" cy="43799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83880" y="1828800"/>
            <a:ext cx="3383280" cy="3858768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183880" y="1828800"/>
            <a:ext cx="64008" cy="3858768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85048" y="20025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意思決定への翻訳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85048" y="2450592"/>
            <a:ext cx="301752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セグメントを規模だけで選ばない。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市場魅力度 × 自社競争力 × 顧客価値 × 利益 × 実行可能性で比較。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架空の評価であり、実際の地域優劣を示さない。</a:t>
            </a:r>
            <a:endParaRPr lang="en-US" sz="11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s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購買意思決定者と購入基準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DMU：使う人 ≠ 買う人 ≠ 決める人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65376"/>
            <a:ext cx="5239512" cy="1499616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865376"/>
            <a:ext cx="64008" cy="1499616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203911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医師・診療科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487168"/>
            <a:ext cx="48737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臨床性能・診断価値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272784" y="1865376"/>
            <a:ext cx="5239512" cy="1499616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72784" y="1865376"/>
            <a:ext cx="64008" cy="1499616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73952" y="203911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技師・現場職員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2487168"/>
            <a:ext cx="48737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操作性・教育・ワークフロー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5239512" cy="1499616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749040"/>
            <a:ext cx="64008" cy="1499616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6968" y="3922776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事務・購買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968" y="4370832"/>
            <a:ext cx="48737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初期費用・条件・導入負担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272784" y="3749040"/>
            <a:ext cx="5239512" cy="1499616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72784" y="3749040"/>
            <a:ext cx="64008" cy="1499616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73952" y="3922776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経営・理事長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73952" y="4370832"/>
            <a:ext cx="48737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収益・投資回収・地域での位置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713232" y="58338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KBF：顧客が重視する購買決定要因。部署によって優先度は異なる。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d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売り手と買い手の視点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4P / 4C：売りたい製品ではなく、届ける価値から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" y="1975104"/>
          <a:ext cx="10789920" cy="3383280"/>
        </p:xfrm>
        <a:graphic>
          <a:graphicData uri="http://schemas.openxmlformats.org/drawingml/2006/table">
            <a:tbl>
              <a:tblPr/>
              <a:tblGrid>
                <a:gridCol w="2395728"/>
                <a:gridCol w="2615184"/>
                <a:gridCol w="577900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提供側4P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顧客側4C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Product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Customer Value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臨床・運用・経営で何が改善する？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Price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Customer Cost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購入以外の保守・導入・時間コストは？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Place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Convenience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導入・教育・サービスを受けやすい？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Promotion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Communication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顧客と対話し共創している？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76656" y="1975104"/>
            <a:ext cx="10789920" cy="411480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203454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提供側4P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45536" y="20345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顧客側4C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60720" y="2034540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4p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SWOT：リスト作成ではなく戦略オプションへ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04088" y="1865376"/>
            <a:ext cx="5248656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04088" y="1865376"/>
            <a:ext cx="64008" cy="150876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05256" y="203911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強み×機会 / 強み×機会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5256" y="2487168"/>
            <a:ext cx="4882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伸ばす：得意領域を新しい需要へ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300216" y="1865376"/>
            <a:ext cx="5248656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00216" y="1865376"/>
            <a:ext cx="64008" cy="150876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01384" y="203911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弱み×機会 / 弱み×機会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01384" y="2487168"/>
            <a:ext cx="4882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補強：不足能力を作って機会を獲得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704088" y="3749040"/>
            <a:ext cx="5248656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04088" y="3749040"/>
            <a:ext cx="64008" cy="1508760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5256" y="3922776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強み×脅威 / 強み×脅威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256" y="4370832"/>
            <a:ext cx="4882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守る：強みを用いて競争圧力を軽減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300216" y="3749040"/>
            <a:ext cx="5248656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0216" y="3749040"/>
            <a:ext cx="64008" cy="150876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01384" y="3922776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弱み×脅威 / 弱み×脅威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01384" y="4370832"/>
            <a:ext cx="4882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縮小：高リスク領域を撤退・防御</a:t>
            </a:r>
            <a:endParaRPr lang="en-US" sz="111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w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成功要因と能力差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KSFは戦略と施策の橋渡しになる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800" dirty="0"/>
          </a:p>
        </p:txBody>
      </p:sp>
      <p:pic>
        <p:nvPicPr>
          <p:cNvPr id="8" name="Image 0" descr="/mnt/data/strategy_work/assets/ksf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37360"/>
            <a:ext cx="7333488" cy="43068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29016" y="1911096"/>
            <a:ext cx="3419856" cy="3639312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129016" y="1911096"/>
            <a:ext cx="64008" cy="3639312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30184" y="20848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抽出の順序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30184" y="2532888"/>
            <a:ext cx="305409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成功条件（KSF）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今の能力（Capability）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足りないこと（Gap）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埋める施策（Action）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確かめる指標（KPI）</a:t>
            </a:r>
            <a:endParaRPr lang="en-US" sz="111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ks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戦う領域と勝ち方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戦略の中心は2つの選択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5248656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1520" y="2011680"/>
            <a:ext cx="64008" cy="301752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2185416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戦う領域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633472"/>
            <a:ext cx="488289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どの診療科・医療機関・医療圏・導入契機・課題で戦うか。どこで戦わないか。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163056" y="2011680"/>
            <a:ext cx="5248656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63056" y="2011680"/>
            <a:ext cx="64008" cy="301752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4224" y="2185416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633472"/>
            <a:ext cx="488289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臨床・運用・経営価値、導入後支援、専門人材や提携によってどう差別化するか。</a:t>
            </a:r>
            <a:endParaRPr lang="en-US" sz="111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演習事例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実践ケース：架空の地方医療機器商社A社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710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以降の数値は架空の研修用例で、市場推計・実績ではない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5230368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1847088"/>
            <a:ext cx="64008" cy="1490472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2688" y="202082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選択肢A 全領域を広く扱う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2468880"/>
            <a:ext cx="4864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機会とリスク：資源分散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6327648" y="1847088"/>
            <a:ext cx="5230368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27648" y="1847088"/>
            <a:ext cx="64008" cy="1490472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28816" y="202082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選択肢B 診療所更新に集中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8816" y="2468880"/>
            <a:ext cx="4864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機会とリスク：市場の限定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731520" y="3721608"/>
            <a:ext cx="5230368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721608"/>
            <a:ext cx="64008" cy="1490472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389534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選択肢C 導入後支援を強化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2688" y="4343400"/>
            <a:ext cx="4864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機会とリスク：人材投資が必要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6327648" y="3721608"/>
            <a:ext cx="5230368" cy="1490472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27648" y="3721608"/>
            <a:ext cx="64008" cy="1490472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28816" y="389534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選択肢D 大規模病院に進出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28816" y="4343400"/>
            <a:ext cx="4864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機会とリスク：提案負荷が高い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804672" y="58795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誰が、なぜ、その選択を支持するか？ 反対意見は何か？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3〜5年戦略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3〜5年戦略：予算表ではなく勝ち筋の設計図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800" dirty="0"/>
          </a:p>
        </p:txBody>
      </p:sp>
      <p:pic>
        <p:nvPicPr>
          <p:cNvPr id="8" name="Image 0" descr="/mnt/data/strategy_work/assets/illustrative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64792"/>
            <a:ext cx="7370064" cy="4389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1865376"/>
            <a:ext cx="3145536" cy="37581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321040" y="1865376"/>
            <a:ext cx="64008" cy="3758184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522208" y="2039112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年次ロードマップ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22208" y="2487168"/>
            <a:ext cx="27797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1年目：実証・型化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2年目：標準化・人材育成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3年目：地域展開・利益改善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4〜5年目：再配分・新規価値</a:t>
            </a:r>
            <a:endParaRPr lang="en-US" sz="111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何をやらないか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優先順位の前に「やらないこと」を決める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883664"/>
            <a:ext cx="525780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13232" y="1883664"/>
            <a:ext cx="64008" cy="150876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やめる：一律の全市場展開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50545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代わりに：対象と深さに濃淡をつける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318504" y="1883664"/>
            <a:ext cx="525780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318504" y="1883664"/>
            <a:ext cx="64008" cy="150876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19672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やめる：無条件の価格追随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9672" y="250545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代わりに：価値とTCOで顧客に説明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713232" y="3785616"/>
            <a:ext cx="525780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13232" y="3785616"/>
            <a:ext cx="64008" cy="150876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39593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やめる：根拠のない新商材拡大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40740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代わりに：小規模検証してから投資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318504" y="3785616"/>
            <a:ext cx="525780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18504" y="3785616"/>
            <a:ext cx="64008" cy="1508760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19672" y="39593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やめる：形だけの会議・報告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440740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代わりに：意思決定と障害除去を優先</a:t>
            </a:r>
            <a:endParaRPr lang="en-US" sz="111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失敗の要因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独立章：戦略が失敗する10の理由 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755648"/>
            <a:ext cx="64008" cy="1161288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192938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現状維持バイアス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23774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外部変化と失われる顧客価値を定期レビュー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281928" y="175564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81928" y="1755648"/>
            <a:ext cx="64008" cy="1161288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83096" y="192938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集団浅慮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096" y="23774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反証担当、少数意見の記録、匿名事前提出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85800" y="317296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172968"/>
            <a:ext cx="64008" cy="1161288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6968" y="334670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確証バイアス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" y="379476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反対事例、競合顧客インタビュー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281928" y="317296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81928" y="3172968"/>
            <a:ext cx="64008" cy="1161288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83096" y="334670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目標と戦略の混同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3096" y="379476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対象・勝ち方・非選択を1枚に明文化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685800" y="459028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85800" y="4590288"/>
            <a:ext cx="64008" cy="1161288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476402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資源分散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5212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優先順位と停止案件を明文化</a:t>
            </a:r>
            <a:endParaRPr lang="en-US" sz="111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失敗の要因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独立章：戦略が失敗する10の理由 ②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755648"/>
            <a:ext cx="64008" cy="1161288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192938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差別化の欠如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23774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臨床・運用・経営の価値を検証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281928" y="175564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81928" y="1755648"/>
            <a:ext cx="64008" cy="1161288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83096" y="192938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現場の巻き込み不足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096" y="23774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現場代表を策定から参加させる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85800" y="317296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172968"/>
            <a:ext cx="64008" cy="1161288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6968" y="334670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責任不明・部門の壁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" y="379476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RACI・意思決定期限・エスカレーション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281928" y="317296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81928" y="3172968"/>
            <a:ext cx="64008" cy="1161288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83096" y="334670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実験不足・実行遅延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3096" y="379476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90日で小さな検証とゲート判断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685800" y="4590288"/>
            <a:ext cx="523036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85800" y="4590288"/>
            <a:ext cx="64008" cy="1161288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476402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撤退できない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6968" y="5212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事前に撤退トリガーと判断者を定める</a:t>
            </a:r>
            <a:endParaRPr lang="en-US" sz="111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事前失敗検証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プレモーテム：3年後の失敗を先に想像する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76656" y="1993392"/>
            <a:ext cx="2633472" cy="2971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76656" y="1993392"/>
            <a:ext cx="64008" cy="2971800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77824" y="21671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" y="2615184"/>
            <a:ext cx="226771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各自が失敗要因を匿名記入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3584448" y="1993392"/>
            <a:ext cx="2633472" cy="2971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84448" y="1993392"/>
            <a:ext cx="64008" cy="297180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85616" y="21671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85616" y="2615184"/>
            <a:ext cx="226771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仮説の違いを可視化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492240" y="1993392"/>
            <a:ext cx="2633472" cy="2971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92240" y="1993392"/>
            <a:ext cx="64008" cy="2971800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93408" y="21671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3408" y="2615184"/>
            <a:ext cx="226771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 × 影響 × 気づく兆候で評価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9400032" y="1993392"/>
            <a:ext cx="2633472" cy="2971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400032" y="1993392"/>
            <a:ext cx="64008" cy="2971800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601200" y="216712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2分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0" y="2615184"/>
            <a:ext cx="226771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責任者・検証期限・撤退条件を決定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758952" y="565099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「反対する人」ではなく「見落としを減らす人」がチームを強くする。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リーダーシップ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戦略・マネジメント・リーダーシップの役割を分ける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956816"/>
            <a:ext cx="3547872" cy="2798064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1956816"/>
            <a:ext cx="64008" cy="2798064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59536" y="213055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578608"/>
            <a:ext cx="31821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戦う領域と勝ち方を選び、資源集中する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4471416" y="1956816"/>
            <a:ext cx="3547872" cy="2798064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71416" y="1956816"/>
            <a:ext cx="64008" cy="279806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72584" y="213055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マネジメント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72584" y="2578608"/>
            <a:ext cx="31821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計画・責任・KPI・評価の仕組みを回す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8284464" y="1956816"/>
            <a:ext cx="3547872" cy="2798064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84464" y="1956816"/>
            <a:ext cx="64008" cy="2798064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85632" y="213055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リーダーシップ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85632" y="2578608"/>
            <a:ext cx="31821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納得できる理由を伝え、変化を動かす</a:t>
            </a:r>
            <a:endParaRPr lang="en-US" sz="111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ストーリーで伝える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ロジックで納得し、ストーリーで動く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984248"/>
            <a:ext cx="2734056" cy="2807208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1984248"/>
            <a:ext cx="64008" cy="2807208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95528" y="215798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現状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606040"/>
            <a:ext cx="23682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顧客の困りごと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3511296" y="1984248"/>
            <a:ext cx="2734056" cy="2807208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11296" y="1984248"/>
            <a:ext cx="64008" cy="2807208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12464" y="215798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危機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12464" y="2606040"/>
            <a:ext cx="23682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変わらない損失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428232" y="1984248"/>
            <a:ext cx="2734056" cy="2807208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28232" y="1984248"/>
            <a:ext cx="64008" cy="2807208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29400" y="215798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選択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2606040"/>
            <a:ext cx="23682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捨てること・勝ち方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9345168" y="1984248"/>
            <a:ext cx="2734056" cy="2807208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45168" y="1984248"/>
            <a:ext cx="64008" cy="2807208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546336" y="215798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未来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46336" y="2606040"/>
            <a:ext cx="23682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顧客と社員の変化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694944" y="575157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根拠のない美談で動かすのではない。事実と因果に裏付けられた物語が必要。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90日間の施策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90日施策：実行と学びを3フェーズに分ける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984248"/>
            <a:ext cx="3557016" cy="3044952"/>
          </a:xfrm>
          <a:prstGeom prst="roundRect">
            <a:avLst>
              <a:gd name="adj" fmla="val 480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984248"/>
            <a:ext cx="64008" cy="3044952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2157984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1〜30日　理解・焦点・体制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606040"/>
            <a:ext cx="31912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顧客課題・市場仮説・KSF・RACI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4507992" y="1984248"/>
            <a:ext cx="3557016" cy="3044952"/>
          </a:xfrm>
          <a:prstGeom prst="roundRect">
            <a:avLst>
              <a:gd name="adj" fmla="val 480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07992" y="1984248"/>
            <a:ext cx="64008" cy="3044952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09160" y="2157984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31〜60日　小さな顧客検証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2606040"/>
            <a:ext cx="31912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ヒアリング・提案実証・中間判断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8330184" y="1984248"/>
            <a:ext cx="3557016" cy="3044952"/>
          </a:xfrm>
          <a:prstGeom prst="roundRect">
            <a:avLst>
              <a:gd name="adj" fmla="val 4805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30184" y="1984248"/>
            <a:ext cx="64008" cy="3044952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31352" y="2157984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61〜90日　標準化・再配分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31352" y="2606040"/>
            <a:ext cx="31912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成功施策の水平展開・撤退・次期計画</a:t>
            </a:r>
            <a:endParaRPr lang="en-US" sz="111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90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90日実行チェックリスト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90日間の具体的な実行計画（要約）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92224"/>
          <a:ext cx="11018520" cy="4471416"/>
        </p:xfrm>
        <a:graphic>
          <a:graphicData uri="http://schemas.openxmlformats.org/drawingml/2006/table">
            <a:tbl>
              <a:tblPr/>
              <a:tblGrid>
                <a:gridCol w="1152144"/>
                <a:gridCol w="6793992"/>
                <a:gridCol w="3072384"/>
              </a:tblGrid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アクション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責任者例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D1-7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チーム憲章の合意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戦略リーダー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D4-14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既存案件と顧客課題の棚卸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市場分析担当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D8-21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PEST/5F/3Cの仮説統合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市場分析担当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D15-28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STPと重点市場の暫定選択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戦略リーダー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D22-30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KSF/Gapと実証設計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改革コアチーム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D31-43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重点顧客インタビュー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営業・顧客担当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D37-50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3階層価値提案の試行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臨床・運用価値担当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D45-58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DMUとファネル案件化基準の試行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営業・顧客担当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D53-60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中間レビューと戦略修正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スポンサー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D61-75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成功施策の標準化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PMO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D72-85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体制・投資配分の再決定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スポンサー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39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D85-90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90日レビュー・次期計画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戦略リーダー</a:t>
                      </a:r>
                      <a:endParaRPr lang="en-US" sz="10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1792224"/>
            <a:ext cx="11018520" cy="343955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" y="18516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時期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1819656" y="18516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8613648" y="18516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責任者例</a:t>
            </a:r>
            <a:endParaRPr lang="en-US" sz="94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営業ファネル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ファネル：訪問件数ではなく転換率を計測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800" dirty="0"/>
          </a:p>
        </p:txBody>
      </p:sp>
      <p:pic>
        <p:nvPicPr>
          <p:cNvPr id="8" name="Image 0" descr="/mnt/data/strategy_work/assets/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47088"/>
            <a:ext cx="7818120" cy="41513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58784" y="1947672"/>
            <a:ext cx="2852928" cy="380390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558784" y="1947672"/>
            <a:ext cx="64008" cy="380390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759952" y="212140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転換KPIの例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759952" y="2569464"/>
            <a:ext cx="2487168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接触 → 課題確認 → 有効商談 → デモ → 受注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各段階の「定義」と「引継ぎ責任」を決め、歩留まりの改善に集中する。</a:t>
            </a:r>
            <a:endParaRPr lang="en-US" sz="111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結果指標だけでなく先行指標を持つ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4944" y="1828800"/>
            <a:ext cx="5239512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94944" y="1828800"/>
            <a:ext cx="64008" cy="1527048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" y="2002536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KGI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2450592"/>
            <a:ext cx="4873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売上・粗利・継続収益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291072" y="1828800"/>
            <a:ext cx="5239512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072" y="1828800"/>
            <a:ext cx="64008" cy="1527048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2002536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先行KPI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450592"/>
            <a:ext cx="4873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顧客課題検証件数・提案採用率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94944" y="3739896"/>
            <a:ext cx="5239512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94944" y="3739896"/>
            <a:ext cx="64008" cy="1527048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" y="391363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中間KPI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361688"/>
            <a:ext cx="4873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有効商談・DMU接点・デモ化率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291072" y="3739896"/>
            <a:ext cx="5239512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91072" y="3739896"/>
            <a:ext cx="64008" cy="1527048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0" y="3913632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組織KPI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361688"/>
            <a:ext cx="48737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期限内実行率・意思決定日数</a:t>
            </a:r>
            <a:endParaRPr lang="en-US" sz="111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地域と地図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地域分析：Google Mapsと医療圏データを併用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710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架空の検討都市・模式図。市場シェア、地理上の正確性、優先度を表すものではありません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800" dirty="0"/>
          </a:p>
        </p:txBody>
      </p:sp>
      <p:pic>
        <p:nvPicPr>
          <p:cNvPr id="9" name="Image 0" descr="/mnt/data/strategy_work/assets/illustrativ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126480" cy="453542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086600" y="1975104"/>
            <a:ext cx="431596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315200" y="209397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仙台</a:t>
            </a:r>
            <a:endParaRPr lang="en-US" sz="1400" dirty="0"/>
          </a:p>
        </p:txBody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8732520" y="208483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Googleマップを開く ↗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086600" y="2743200"/>
            <a:ext cx="431596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315200" y="286207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</a:t>
            </a:r>
            <a:endParaRPr lang="en-US" sz="1400" dirty="0"/>
          </a:p>
        </p:txBody>
      </p:sp>
      <p:sp>
        <p:nvSpPr>
          <p:cNvPr id="15" name="Text 12">
            <a:hlinkClick r:id="rId3" tooltip=""/>
          </p:cNvPr>
          <p:cNvSpPr/>
          <p:nvPr/>
        </p:nvSpPr>
        <p:spPr>
          <a:xfrm>
            <a:off x="8732520" y="285292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Googleマップを開く ↗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86600" y="3511296"/>
            <a:ext cx="431596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315200" y="363016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名古屋</a:t>
            </a:r>
            <a:endParaRPr lang="en-US" sz="1400" dirty="0"/>
          </a:p>
        </p:txBody>
      </p:sp>
      <p:sp>
        <p:nvSpPr>
          <p:cNvPr id="18" name="Text 15">
            <a:hlinkClick r:id="rId4" tooltip=""/>
          </p:cNvPr>
          <p:cNvSpPr/>
          <p:nvPr/>
        </p:nvSpPr>
        <p:spPr>
          <a:xfrm>
            <a:off x="8732520" y="362102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Googleマップを開く ↗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86600" y="4279392"/>
            <a:ext cx="431596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315200" y="4398264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</a:t>
            </a:r>
            <a:endParaRPr lang="en-US" sz="1400" dirty="0"/>
          </a:p>
        </p:txBody>
      </p:sp>
      <p:sp>
        <p:nvSpPr>
          <p:cNvPr id="21" name="Text 18">
            <a:hlinkClick r:id="rId5" tooltip=""/>
          </p:cNvPr>
          <p:cNvSpPr/>
          <p:nvPr/>
        </p:nvSpPr>
        <p:spPr>
          <a:xfrm>
            <a:off x="8732520" y="438912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Googleマップを開く ↗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86600" y="5047488"/>
            <a:ext cx="4315968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315200" y="516636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福岡</a:t>
            </a:r>
            <a:endParaRPr lang="en-US" sz="1400" dirty="0"/>
          </a:p>
        </p:txBody>
      </p:sp>
      <p:sp>
        <p:nvSpPr>
          <p:cNvPr id="24" name="Text 21">
            <a:hlinkClick r:id="rId6" tooltip=""/>
          </p:cNvPr>
          <p:cNvSpPr/>
          <p:nvPr/>
        </p:nvSpPr>
        <p:spPr>
          <a:xfrm>
            <a:off x="8732520" y="515721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Googleマップを開く ↗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実践演習：チームで「自社の3〜5年戦略」を発表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92808"/>
            <a:ext cx="52578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892808"/>
            <a:ext cx="64008" cy="1517904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6968" y="20665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1枚：市場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2514600"/>
            <a:ext cx="4892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変化・顧客・競争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281928" y="1892808"/>
            <a:ext cx="52578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81928" y="1892808"/>
            <a:ext cx="64008" cy="151790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83096" y="206654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1枚：戦略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83096" y="2514600"/>
            <a:ext cx="4892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WTP/HTW・やらないこと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85800" y="3776472"/>
            <a:ext cx="52578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776472"/>
            <a:ext cx="64008" cy="1517904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6968" y="3950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1枚：実行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968" y="4398264"/>
            <a:ext cx="4892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KSF/Gap・人員・90日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281928" y="3776472"/>
            <a:ext cx="52578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81928" y="3776472"/>
            <a:ext cx="64008" cy="1517904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83096" y="3950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1枚：失敗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83096" y="4398264"/>
            <a:ext cx="4892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反証・リスク・撤退条件</a:t>
            </a:r>
            <a:endParaRPr lang="en-US" sz="111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評価基準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採点ルーブリック：分析のきれいさより意思決定の質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11096"/>
          <a:ext cx="10652760" cy="3474720"/>
        </p:xfrm>
        <a:graphic>
          <a:graphicData uri="http://schemas.openxmlformats.org/drawingml/2006/table">
            <a:tbl>
              <a:tblPr/>
              <a:tblGrid>
                <a:gridCol w="2359152"/>
                <a:gridCol w="6693408"/>
                <a:gridCol w="1600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軸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何を評価するか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点数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根拠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事実・仮説・反証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選択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対象・非選択・資源集中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差別化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顧客価値と競争優位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実行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KSF・Gap・90日施策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組織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RACI・対話・学習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34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1911096"/>
            <a:ext cx="10652760" cy="411480"/>
          </a:xfrm>
          <a:prstGeom prst="rect">
            <a:avLst/>
          </a:prstGeom>
          <a:solidFill>
            <a:srgbClr val="10283F"/>
          </a:solidFill>
          <a:ln w="12700">
            <a:solidFill>
              <a:srgbClr val="10283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50392" y="19705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9544" y="1970532"/>
            <a:ext cx="6547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何を評価するか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902952" y="197053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点数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法令・倫理・公開配慮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汎用研修として公開する際の守るべき線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94944" y="1883664"/>
            <a:ext cx="5266944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94944" y="1883664"/>
            <a:ext cx="64008" cy="1527048"/>
          </a:xfrm>
          <a:prstGeom prst="rect">
            <a:avLst/>
          </a:prstGeom>
          <a:solidFill>
            <a:srgbClr val="E66A69"/>
          </a:solidFill>
          <a:ln w="12700">
            <a:solidFill>
              <a:srgbClr val="E66A6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" y="205740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66A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使わないもの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2505456"/>
            <a:ext cx="4901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顧客実名・機密価格・取引条件・社内KPI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6291072" y="1883664"/>
            <a:ext cx="5266944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072" y="1883664"/>
            <a:ext cx="64008" cy="1527048"/>
          </a:xfrm>
          <a:prstGeom prst="rect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205740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明示すること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505456"/>
            <a:ext cx="4901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例示数値は架空／制度情報は時点を明記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94944" y="3758184"/>
            <a:ext cx="5266944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94944" y="3758184"/>
            <a:ext cx="64008" cy="1527048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96112" y="393192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守る基準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379976"/>
            <a:ext cx="4901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医療安全・薬機法・個人情報・公正競争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291072" y="3758184"/>
            <a:ext cx="5266944" cy="1527048"/>
          </a:xfrm>
          <a:prstGeom prst="roundRect">
            <a:avLst>
              <a:gd name="adj" fmla="val 9581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91072" y="3758184"/>
            <a:ext cx="64008" cy="1527048"/>
          </a:xfrm>
          <a:prstGeom prst="rect">
            <a:avLst/>
          </a:prstGeom>
          <a:solidFill>
            <a:srgbClr val="F1AE4B"/>
          </a:solidFill>
          <a:ln w="12700">
            <a:solidFill>
              <a:srgbClr val="F1AE4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0" y="393192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1AE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検証姿勢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379976"/>
            <a:ext cx="4901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033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教育効果・診療報酬・法的判断は一次情報確認</a:t>
            </a:r>
            <a:endParaRPr lang="en-US" sz="111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320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参考文献・出典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6751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主要参考資料と情報源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2710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公的なURLと理論の原典を別紙に掲載。特定メーカー・販社の社内資料は公開用に引用しない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1055096" cy="0"/>
          </a:xfrm>
          <a:prstGeom prst="line">
            <a:avLst/>
          </a:prstGeom>
          <a:noFill/>
          <a:ln w="12700">
            <a:solidFill>
              <a:srgbClr val="D9E8ED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85216" y="6583680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戦略・改革実践研修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00816" y="65562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7E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773936"/>
            <a:ext cx="10780776" cy="521208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77824" y="18836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ポーター／5つの競争要因</a:t>
            </a:r>
            <a:endParaRPr lang="en-US" sz="116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8915400" y="18836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リンクを開く ↗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85800" y="2459736"/>
            <a:ext cx="10780776" cy="521208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7824" y="25694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コッター／8段階変革モデル</a:t>
            </a:r>
            <a:endParaRPr lang="en-US" sz="116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8915400" y="25694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リンクを開く ↗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85800" y="3145536"/>
            <a:ext cx="10780776" cy="521208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7824" y="32552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re:Work／効果的なチーム研究</a:t>
            </a:r>
            <a:endParaRPr lang="en-US" sz="116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8915400" y="32552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リンクを開く ↗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85800" y="3831336"/>
            <a:ext cx="10780776" cy="521208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77824" y="39410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戦略zer / Value Proposition Canvas</a:t>
            </a:r>
            <a:endParaRPr lang="en-US" sz="1160" dirty="0"/>
          </a:p>
        </p:txBody>
      </p:sp>
      <p:sp>
        <p:nvSpPr>
          <p:cNvPr id="20" name="Text 18">
            <a:hlinkClick r:id="rId4" tooltip=""/>
          </p:cNvPr>
          <p:cNvSpPr/>
          <p:nvPr/>
        </p:nvSpPr>
        <p:spPr>
          <a:xfrm>
            <a:off x="8915400" y="39410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リンクを開く ↗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85800" y="4517136"/>
            <a:ext cx="10780776" cy="521208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77824" y="46268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厚生労働省 / 医薬品等の広告規制</a:t>
            </a:r>
            <a:endParaRPr lang="en-US" sz="1160" dirty="0"/>
          </a:p>
        </p:txBody>
      </p:sp>
      <p:sp>
        <p:nvSpPr>
          <p:cNvPr id="23" name="Text 21">
            <a:hlinkClick r:id="rId5" tooltip=""/>
          </p:cNvPr>
          <p:cNvSpPr/>
          <p:nvPr/>
        </p:nvSpPr>
        <p:spPr>
          <a:xfrm>
            <a:off x="8915400" y="46268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リンクを開く ↗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85800" y="5202936"/>
            <a:ext cx="10780776" cy="521208"/>
          </a:xfrm>
          <a:prstGeom prst="roundRect">
            <a:avLst>
              <a:gd name="adj" fmla="val 28070"/>
            </a:avLst>
          </a:prstGeom>
          <a:solidFill>
            <a:srgbClr val="FFFFFF"/>
          </a:solidFill>
          <a:ln w="12700">
            <a:solidFill>
              <a:srgbClr val="D9E8E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7824" y="53126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8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厚生労働省 / 医療機器の立会いに関する基準</a:t>
            </a:r>
            <a:endParaRPr lang="en-US" sz="1160" dirty="0"/>
          </a:p>
        </p:txBody>
      </p:sp>
      <p:sp>
        <p:nvSpPr>
          <p:cNvPr id="26" name="Text 24">
            <a:hlinkClick r:id="rId6" tooltip=""/>
          </p:cNvPr>
          <p:cNvSpPr/>
          <p:nvPr/>
        </p:nvSpPr>
        <p:spPr>
          <a:xfrm>
            <a:off x="8915400" y="53126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u="sng" dirty="0">
                <a:solidFill>
                  <a:srgbClr val="146C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リンクを開く ↗</a:t>
            </a:r>
            <a:endParaRPr lang="en-US" sz="113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E0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まとめ・次の行動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389888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考え、選び、チームで動かす。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15184"/>
            <a:ext cx="10058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E4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3〜5年戦略から、最初の90日を実行する。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編纂：DyRO推進課　松尾 武範　｜　ビジネスパートナー戦略企画課　伊逹 浩一・山中 果菜実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956048"/>
            <a:ext cx="9738360" cy="777240"/>
          </a:xfrm>
          <a:prstGeom prst="roundRect">
            <a:avLst>
              <a:gd name="adj" fmla="val 18824"/>
            </a:avLst>
          </a:prstGeom>
          <a:solidFill>
            <a:srgbClr val="009A93"/>
          </a:solidFill>
          <a:ln w="12700">
            <a:solidFill>
              <a:srgbClr val="009A93"/>
            </a:solidFill>
            <a:prstDash val="solid"/>
          </a:ln>
        </p:spPr>
        <p:txBody>
          <a:bodyPr/>
          <a:p/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024128" y="5111496"/>
            <a:ext cx="9281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国内医療機器MKT参考　↗　（クリックして開く）</a:t>
            </a:r>
            <a:endParaRPr lang="en-US" sz="180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822960" y="6062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u="sng" dirty="0">
                <a:solidFill>
                  <a:srgbClr val="C7E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https://sinobu13-bpei.github.io/medical-intelligence/?v=20261022-yamagata&amp;utm_source=chatgpt.com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施策・中長期戦略立案のための考え方</dc:title>
  <dc:subject>医療機器流通マーケティング・中長期戦略教育</dc:subject>
  <dc:creator>戦略研修編纂チーム</dc:creator>
  <cp:lastModifiedBy>戦略研修編纂チーム</cp:lastModifiedBy>
  <cp:revision>1</cp:revision>
  <dcterms:created xsi:type="dcterms:W3CDTF">2026-10-22T11:32:19Z</dcterms:created>
  <dcterms:modified xsi:type="dcterms:W3CDTF">2026-10-22T11:32:19Z</dcterms:modified>
</cp:coreProperties>
</file>